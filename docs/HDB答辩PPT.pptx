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73152" cy="29260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新加坡 HDB 组屋转售价格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4800" b="1">
                <a:solidFill>
                  <a:srgbClr val="60A5FA"/>
                </a:solidFill>
                <a:latin typeface="Microsoft YaHei"/>
              </a:defRPr>
            </a:pPr>
            <a:r>
              <a:t>分析与预测系统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基于 Streamlit 的交互式房产数据分析平台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80560"/>
            <a:ext cx="3200400" cy="274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课程项目答辩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小组成员：张涛、申经纬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577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Why this project?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📊  为什么要做这个项目？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新加坡超 80% 人口居住在 HDB 组屋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转售市场活跃，房价受多重因素影响</a:t>
            </a:r>
          </a:p>
          <a:p>
            <a:pPr algn="l" lvl="1">
              <a:spcBef>
                <a:spcPts val="0"/>
              </a:spcBef>
              <a:spcAft>
                <a:spcPts val="1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购房者面对海量数据，缺乏直观分析工具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🎯  我们要解决什么？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如何快速了解某个区域的房价全貌？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哪些因素对房价影响最大？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能否用模型预测价格？预算有限买哪里最划算？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📌  研究对象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🏘️  3 个相邻镇区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Punggol（榜鹅）· Sengkang（盛港）· Hougang（后港）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📡  数据来源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data.gov.sg 官方 HDB 转售交易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📅  时间范围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2020 年 — 2026 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📋  数据规模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34,914 条清洗后交易记录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6424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Streamlit Web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📊 数据概览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8024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🗺️ 地图可视化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📈 因素分析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🤖 价格预测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4696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54696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💭 分析思考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2423160"/>
            <a:ext cx="162763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45059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🏆 策略验证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data_loader.py  数据管线：data.gov.sg API → 清洗 → Parquet 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🖥️  前端技术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Streamlit + Plotly + pydeck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⚙️  后端处理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Pandas + NumPy + Scikit-learn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📈  统计分析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SciPy + Statsmodels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🚀  部署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Streamlit Community Cloud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📦  数据格式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Parquet（高性能列式存储）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🔑  关键特性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一键部署 · 内置缓存 · API 降级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数据概览 — 功能展示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Data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🔎  多条件筛选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镇区 / 年份 / 房型 / 面积 / 价格 / 剩余年限 / 楼层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📊  统计看板（8 指标卡片）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交易套数 · 均价 · 中位数 · 总成交额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最高价 · 最低价 · 最高单价 · 最低单价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镇区分组统计：套数、均价、中位数、单价、成交总额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📈  趋势 + 分布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月度均价走势（分镇区折线图）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季度交易量（分镇区柱状图）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价格分布直方图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镇区 × 房型均价热力图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📋  交互式数据表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可排序 · 可筛选 · 可导出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16916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34,914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交易套数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73736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737360"/>
            <a:ext cx="1691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745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S$ 558K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均价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73736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1737360"/>
            <a:ext cx="169164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18745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60A5FA"/>
                </a:solidFill>
                <a:latin typeface="Microsoft YaHei"/>
              </a:defRPr>
            </a:pPr>
            <a:r>
              <a:t>S$ 545K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中位数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74320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2743200"/>
            <a:ext cx="1691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880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S$ 19.5B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735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总成交额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74320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2743200"/>
            <a:ext cx="1691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880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EF4444"/>
                </a:solidFill>
                <a:latin typeface="Microsoft YaHei"/>
              </a:defRPr>
            </a:pPr>
            <a:r>
              <a:t>S$ 1.38M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735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最高价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2743200"/>
            <a:ext cx="1691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2743200"/>
            <a:ext cx="1691640" cy="54864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880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0B2D5B"/>
                </a:solidFill>
                <a:latin typeface="Microsoft YaHei"/>
              </a:defRPr>
            </a:pPr>
            <a:r>
              <a:t>S$ 228K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2735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最低价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地图可视化 — 三种模式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Map Visualization — pydeck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102412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292608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交互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镇区均价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ScatterplotLayer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大小=交易量，颜色=均价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pydeck + 全局色阶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悬停详情弹出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热力分布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房价热力图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含坐标抖动仿真（~300m）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pydeck HeatmapLayer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缩放/平移/强度调节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时空变化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年份滑块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统一色阶跨年对比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pydeck + Plotly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趋势图联动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时间维度切换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9319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🔌  配套设施叠加（已实现）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🚇  MRT / LRT 站点 — NE14-NE17 + Punggol/Sengkang LRT 线路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🏫  学校 — 5 所小学 + 5 所中学（Punggol/Sengkang/Hougang 区域）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🎛️  侧边栏多选叠加控制 + 热力半径/强度滑块调节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影响因素分析 — 7 个分析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Factor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69164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365760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Tab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统计显著性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① 面积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散点图 + OLS + Pearson 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面积核心驱动单价，r≈0.75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② 房型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箱线图 + ANOVA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p&lt;0.001，每级溢价 15-25%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③ 楼层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箱线图 + 趋势分析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中高层溢价 5-10%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④ 剩余租约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分箱箱线图 + 线性回归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租约越短折价越大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⑤ 房龄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散点图 + LOWESS 趋势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新房显著溢价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⑥ 镇区对比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Town vs Price 偏离度 + CAGR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Hougang 均价最高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💡 策略验证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 策略 CAGR + CV + 雷达图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各策略适用场景分析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📊  核心结论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面积是最强单一预测因子（r≈0.75），房型与面积高度相关存在共线性；镇区对比采用 Town vs 均价偏离度框架，Hougang 均价最高、Punggol 增长最快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价格预测 — 双模型对比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Price Prediction: Ridge vs Random Forest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预测目标：单价 price_per_sqm（新元/sqm） | 时间切分：2020–2023 训练 / 2024+ 测试 | 特征：8 个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194560"/>
          <a:ext cx="10332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Ridge Regression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线性（L2 正则）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集成树（250 棵树）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MAE (新元/sqm)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~S$520/sqm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~S$700/sqm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越低越好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~0.48 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~0.19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越高越好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~7.7%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~10.0%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越低越好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5-fold CV R²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稳定 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泛化有限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时间外推能力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3931920"/>
            <a:ext cx="105156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0B2D5B"/>
                </a:solidFill>
                <a:latin typeface="Microsoft YaHei"/>
              </a:defRPr>
            </a:pPr>
            <a:r>
              <a:t>🏆  Ridge 在时间切分验证中表现更优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原因：Ridge 的 year 特征可线性外推价格时间趋势（2020-2023 → 2024+）；RF 树模型无法外推时间趋势，在纯时间切分中泛化受限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🔍  模型诊断 &amp; 分房型评估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6 类别分房型评估（小户型/中户型/大户型/老旧/新近/MRT沿线）· 预测 vs 实际散点图 · 残差分布诊断 · 5-fold CV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特征重要性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Feature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0515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274320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重要性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🥇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floor_area_sqm（面积）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绝对领先，最强预测因子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🥈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flat_type_ordinal（房型编码）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房型等级与价格强相关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🥉 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remaining_lease（剩余租约）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租约越短折价越大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year（交易年份）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市场整体涨跌趋势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storey_mid（楼层）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中高层溢价明显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town（镇区）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地段差异被面积部分解释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mrt_distance（MRT 距离）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步行范围内影响有限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schools_nearby（学校数量）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学区效应较弱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0B2D5B"/>
                </a:solidFill>
                <a:latin typeface="Microsoft YaHei"/>
              </a:defRPr>
            </a:pPr>
            <a:r>
              <a:t>💡  关键发现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面积仍是最强预测因子；房型/镇区特征的重要性被面积变量部分替代（面积和房型高度相关）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Ridge 标准化系数排名与 RF 重要性排名高度一致，验证了结论的可靠性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交互式预测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Interactive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0040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20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📝  用户输入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镇区（3 选 1）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房型（6 种）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面积（㎡）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楼层范围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剩余年限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交易年份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9"/>
              </a:spcAft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➡️ 模型 ➡️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20240"/>
            <a:ext cx="603504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1920240"/>
            <a:ext cx="6035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1488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📤  预测输出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Ridge 预测: S$XXX,XXX ⭐ 推荐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RF 预测: S$XXX,XXX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B2D5B"/>
                </a:solidFill>
                <a:latin typeface="Microsoft YaHei"/>
              </a:defRPr>
            </a:pPr>
            <a:r>
              <a:t>📐  90% 预测区间（250 棵个体树分位数）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[S$XXX,XXX  —  S$XXX,XXX]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B2D5B"/>
                </a:solidFill>
                <a:latin typeface="Microsoft YaHei"/>
              </a:defRPr>
            </a:pPr>
            <a:r>
              <a:t>📋  历史相似成交（渐进式放宽匹配）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4 级渐进放宽：面积±10→±30sqm + 租约放宽 + 兜底策略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分析思考题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Analysis &amp; Thinking Questions — 3 Questions × 200+ 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0B2D5B"/>
                </a:solidFill>
                <a:latin typeface="Microsoft YaHei"/>
              </a:defRPr>
            </a:pPr>
            <a:r>
              <a:t>Q1：HDB 转售保值性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面积—价格基本盘 → 剩余租约—时间折扣 → 镇区—地段溢价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CAGR 年化复合增长率量化 + 面积/房龄/镇区分组对比分析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✅ 含 Haversine MRT 距离计算 + 200+ 字分析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5661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0B2D5B"/>
                </a:solidFill>
                <a:latin typeface="Microsoft YaHei"/>
              </a:defRPr>
            </a:pPr>
            <a:r>
              <a:t>Q2：购房策略方向论证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4 策略逻辑推演：镇区偏离回归 / MRT 便利 / 长剩余租约 / 低总价入门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策略对应数据逻辑 + Train/Test 验证支撑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✅ 只用 3 镇区数据 + 200+ 字分析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5661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0B2D5B"/>
                </a:solidFill>
                <a:latin typeface="Microsoft YaHei"/>
              </a:defRPr>
            </a:pPr>
            <a:r>
              <a:t>Q3：模型预测可靠性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Ridge vs RF 时间切分对比 + 5-fold CV 验证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残差诊断 + 适用场景分析 + 模型局限说明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✅ 双模型对比分析 + 200+ 字分析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112471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📋  设计思路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每道题对应一个独立 Tab，采用「图表 + 数据分析 + st.write 200+ 字论述」双层结构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数据仅使用 3 个东北部镇区（Punggol / Sengkang / Hougang），不引入外部成熟区数据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技术实现：Haversine MRT 距离 / CAGR 计算 / RF+Ridge 双模型 / 残差诊断 / OneHot 编码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策略验证 — 4 策略 Train/Test 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Strategy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69164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逻辑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选择规则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镇区偏离回归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买低于镇区均价的房产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等待价格回归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训练期价格偏离度最大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逆向投资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MRT 便利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买靠近 MRT 的房产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享受交通溢价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训练期 MRT 距离最近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自住通勤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长剩余租约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买租约长的保值房产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减少折旧损失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训练期剩余租约最长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长期持有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低总价入门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买低总价小户型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降低入场门槛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训练期总价最低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首次购房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3840480"/>
            <a:ext cx="114300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84048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🧪  验证设计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硬 2023/2024 时间切分（防作弊）：2020–2023 策略形成期，2024+ 验证期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7 项验证指标：总涨幅 · CAGR · 价格波动 CV · 年度涨幅标准差 · 最大回撤 · 成交量 CV · 预算适配性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输出：策略组 vs 基准组对比表格 + 季度均价走势折线图 + 关键指标差异柱状图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策略反思：st.write 200+ 字（选择理由 / 优劣势 / 市场变化影响 / 改进方向）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1A56D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完整数据管线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API → Parquet 缓存 → 自动清洗 →</a:t>
            </a:r>
            <a:br/>
            <a:r>
              <a:t>3-sigma / 分位数异常值处理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双模型对比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06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线性 Ridge（可解释）+ 集成 RF（高精度）</a:t>
            </a:r>
            <a:br/>
            <a:r>
              <a:t>互补分析，分房型评估 6 类别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10B981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预测区间估计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06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RF 个体树分位数 → 90% 置信区间</a:t>
            </a:r>
            <a:br/>
            <a:r>
              <a:t>四级渐进式放宽相似成交匹配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3611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59E0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四策略量化验证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Train/Test 时间切分回测</a:t>
            </a:r>
            <a:br/>
            <a:r>
              <a:t>7 项指标 + 策略反思 200+ 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29768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297680"/>
            <a:ext cx="3611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EF444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Town vs Price 偏离度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74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三镇区均价偏离度 + CAGR 双重评估</a:t>
            </a:r>
            <a:br/>
            <a:r>
              <a:t>替代传统成熟/非成熟二分法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297680"/>
            <a:ext cx="3611880" cy="2240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297680"/>
            <a:ext cx="3611880" cy="73152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0B2D5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B2D5B"/>
                </a:solidFill>
                <a:latin typeface="Microsoft YaHei"/>
              </a:defRPr>
            </a:pPr>
            <a:r>
              <a:t>一键部署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074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内置 Parquet 缓存数据</a:t>
            </a:r>
            <a:br/>
            <a:r>
              <a:t>Streamlit Community Cloud 免费部署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要求完成情况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Requirements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691640"/>
          <a:ext cx="11247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 个相邻镇区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Punggol / Sengkang / Hougang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新加坡东北部走廊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2020 年至今数据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2020-2026，清洗后 34,914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远超最低要求（~16 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≥2,000 条记录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34,914 条（16 倍+）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清洗后高质量数据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Streamlit 交互系统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 页面完整 Web 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Cloud 一键部署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筛选 + 数据表格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9 项筛选 + CSV 导出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可排序可配置列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统计看板（含单价）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 指标卡片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含平均/最高/最低单价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地图 ×3 + 设施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均价/热力/时空 3 模式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MRT/学校叠加图层已实现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≥4 个因素分析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 因素 Tab + 策略验证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均含统计显著性检验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≥2 个预测模型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Ridge + Random Forest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5-fold CV + 6 类别分房型评估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购房策略 + 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 策略 Train/Test 回测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 项指标 + 策略反思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分析思考题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 道题各 200+ 字分析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保值性/策略/模型可靠性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项目挑战与解决方案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Challenges &amp;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挑战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解决方案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CKAN API 分页上限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~5 万条后截断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按镇区分列请求，绕过全局限制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时间切分下模型选择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RF 无法外推时间趋势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Ridge year 特征线性外推，时间切分评估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相似成交匹配过严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 重过滤几乎无结果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四级渐进放宽 + 兜底同镇区+同房型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数据质量问题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缺失/异常值干扰分析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关键字段行删除 + 3-sigma 分组剔除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热力图无真实坐标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无法精确定位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镇区聚类中心 + 随机抖动（~300m）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Cloud 无法访问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部署后数据加载失败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 Parquet 缓存 + API 降级策略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面积 × 房型共线性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Ridge 系数不稳定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L2 正则化 + RF 重要性聚合分析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多页面代码组织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维护困难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pages/ 目录 + importlib 动态导入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不足与改进方向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2200" b="1">
                <a:solidFill>
                  <a:srgbClr val="0B2D5B"/>
                </a:solidFill>
                <a:latin typeface="Microsoft YaHei"/>
              </a:defRPr>
            </a:pPr>
            <a:r>
              <a:t>🔧  当前不足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📍  地理位置为仿真坐标 → 可接入 OneMap API 获取精确经纬度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🤖  可增加 XGBoost / LightGBM / 时间序列模型（Prophet / LSTM）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🌍  宏观因素未纳入：利率、CPI、BTO 供应量、政策冲击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📐  政策量化待深入：RDD（断点回归）/ 事件研究法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🏫  配套设施数据仅 3 镇区 MRT 距离点，尚不足以独立建模分析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1400"/>
              </a:spcAft>
              <a:defRPr sz="2200" b="1">
                <a:solidFill>
                  <a:srgbClr val="0B2D5B"/>
                </a:solidFill>
                <a:latin typeface="Microsoft YaHei"/>
              </a:defRPr>
            </a:pPr>
            <a:r>
              <a:t>🚀  未来改进方向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接入真实地理坐标 → 精确空间分析（Moran's I 空间自相关）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增加 XGBoost / LightGBM 提升预测精度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纳入宏观经济指标，提升模型在拐点期的预测能力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政策影响量化：BSD/ABSD 调整前后的价格断点分析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⚠️  免责声明：房价预测结果仅用于课程学习，不构成购房建议。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3600" b="1">
                <a:solidFill>
                  <a:srgbClr val="0B2D5B"/>
                </a:solidFill>
                <a:latin typeface="Microsoft YaHei"/>
              </a:defRPr>
            </a:pPr>
            <a:r>
              <a:t>成员分工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Team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371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9728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41148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成员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负责工作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0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张涛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数据管线 + 系统架构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+ 数据概览 + 地图可视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化 + 因素分析 + 分析思考题 + 部署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data_loader.py / helpers.py / app.py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01_overview.py / 02_map.py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03_factors.py / 05_questions.py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+ Cloud 部署 + 项目报告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申经纬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价格预测 + 策略验证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+ 答辩 PPT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04_prediction.py（Ridge+RF 训练/评估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/CV/特征重要性/交互式预测/相似成交）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06_strategy.py（4 策略/回测/验证/反思）</a:t>
                      </a:r>
                    </a:p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+ 答辩 PPT 制作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39"/>
              </a:spcAft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感谢聆听，欢迎提问！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0A5FA"/>
                </a:solidFill>
                <a:latin typeface="Microsoft YaHei"/>
              </a:defRPr>
            </a:pPr>
            <a:r>
              <a:t>🌐 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94A3B8"/>
                </a:solidFill>
                <a:latin typeface="Consolas"/>
              </a:defRPr>
            </a:pPr>
            <a:r>
              <a:t>https://hdb-resale-analysis-mxz6kgxpljqn4ubkrqrvr5.streamlit.app/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9"/>
              </a:spcAft>
              <a:defRPr sz="1600" b="0">
                <a:solidFill>
                  <a:srgbClr val="94A3B8"/>
                </a:solidFill>
                <a:latin typeface="Consolas"/>
              </a:defRPr>
            </a:pPr>
            <a:r>
              <a:t>💻  本地运行：streamlit run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数据来源：data.gov.sg · HDB 官网 · IRAS  |  技术：Streamlit · Scikit-learn · Plotly · pydeck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